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with: 'These patterns look identical on the surface. The difference is surgical — and once you see it, you can never unsee it.'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Emphasis: the 'why' comes before the 'what'. Without a factory, every new keyword is a coupling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line: 'The interface has exactly one method. That constraint is what defines this pattern.'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Stress: the guarantee of family consistency is the whole point. You cannot mix a Maruti engine into a Hyundai 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one-liner they should walk away with. Write it on the whiteboard if you're teaching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with: 'Next time you find yourself asking if objects must belong together — you'll know exactly which pattern to reach for.'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1F5E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91440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" y="2606040"/>
            <a:ext cx="2834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AFA9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Patterns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82880" y="2971800"/>
            <a:ext cx="310896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Factory Method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Abstract Factory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840480" y="91440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hide object creation.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840480" y="141732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follow Open/Closed.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840480" y="192024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FA9E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So what actually changes?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840480" y="2514600"/>
            <a:ext cx="4846320" cy="3658"/>
          </a:xfrm>
          <a:prstGeom prst="rect">
            <a:avLst/>
          </a:prstGeom>
          <a:solidFill>
            <a:srgbClr val="534AB7"/>
          </a:solidFill>
        </p:spPr>
      </p:sp>
      <p:sp>
        <p:nvSpPr>
          <p:cNvPr id="10" name="Shape 7"/>
          <p:cNvSpPr/>
          <p:nvPr/>
        </p:nvSpPr>
        <p:spPr>
          <a:xfrm>
            <a:off x="3840480" y="2788920"/>
            <a:ext cx="1600200" cy="347472"/>
          </a:xfrm>
          <a:prstGeom prst="roundRect">
            <a:avLst>
              <a:gd name="adj" fmla="val 26316"/>
            </a:avLst>
          </a:prstGeom>
          <a:solidFill>
            <a:srgbClr val="534AB7"/>
          </a:solidFill>
        </p:spPr>
      </p:sp>
      <p:sp>
        <p:nvSpPr>
          <p:cNvPr id="11" name="Text 8"/>
          <p:cNvSpPr/>
          <p:nvPr/>
        </p:nvSpPr>
        <p:spPr>
          <a:xfrm>
            <a:off x="3840480" y="2788920"/>
            <a:ext cx="1600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ED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23560" y="2788920"/>
            <a:ext cx="1600200" cy="347472"/>
          </a:xfrm>
          <a:prstGeom prst="roundRect">
            <a:avLst>
              <a:gd name="adj" fmla="val 26316"/>
            </a:avLst>
          </a:prstGeom>
          <a:solidFill>
            <a:srgbClr val="0F6E56"/>
          </a:solidFill>
        </p:spPr>
      </p:sp>
      <p:sp>
        <p:nvSpPr>
          <p:cNvPr id="13" name="Text 10"/>
          <p:cNvSpPr/>
          <p:nvPr/>
        </p:nvSpPr>
        <p:spPr>
          <a:xfrm>
            <a:off x="5623560" y="2788920"/>
            <a:ext cx="1600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1F5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Creational patterns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2788920"/>
            <a:ext cx="1600200" cy="347472"/>
          </a:xfrm>
          <a:prstGeom prst="roundRect">
            <a:avLst>
              <a:gd name="adj" fmla="val 26316"/>
            </a:avLst>
          </a:prstGeom>
          <a:solidFill>
            <a:srgbClr val="2E2E42"/>
          </a:solidFill>
        </p:spPr>
      </p:sp>
      <p:sp>
        <p:nvSpPr>
          <p:cNvPr id="15" name="Text 12"/>
          <p:cNvSpPr/>
          <p:nvPr/>
        </p:nvSpPr>
        <p:spPr>
          <a:xfrm>
            <a:off x="7406640" y="2788920"/>
            <a:ext cx="1600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A9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slides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840480" y="3337560"/>
            <a:ext cx="5029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Let's find out — slide by slide.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F5E"/>
          </a:solidFill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AFA9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do factory patterns exist?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38912" cy="438912"/>
          </a:xfrm>
          <a:prstGeom prst="ellipse">
            <a:avLst/>
          </a:prstGeom>
          <a:solidFill>
            <a:srgbClr val="534AB7"/>
          </a:solidFill>
        </p:spPr>
      </p:sp>
      <p:sp>
        <p:nvSpPr>
          <p:cNvPr id="6" name="Text 4"/>
          <p:cNvSpPr/>
          <p:nvPr/>
        </p:nvSpPr>
        <p:spPr>
          <a:xfrm>
            <a:off x="457200" y="1463040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589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 instantiation couples your code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737360"/>
            <a:ext cx="7589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HyundaiCar() in client means client is tightly bound to that concrete class.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438912" cy="438912"/>
          </a:xfrm>
          <a:prstGeom prst="ellipse">
            <a:avLst/>
          </a:prstGeom>
          <a:solidFill>
            <a:srgbClr val="993C1D"/>
          </a:solidFill>
        </p:spPr>
      </p:sp>
      <p:sp>
        <p:nvSpPr>
          <p:cNvPr id="10" name="Text 8"/>
          <p:cNvSpPr/>
          <p:nvPr/>
        </p:nvSpPr>
        <p:spPr>
          <a:xfrm>
            <a:off x="457200" y="2514600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2496312"/>
            <a:ext cx="7589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Swapping variants breaks everything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788920"/>
            <a:ext cx="7589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Want Maruti instead? Change every new call in client. That violates Open/Closed.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438912" cy="438912"/>
          </a:xfrm>
          <a:prstGeom prst="ellipse">
            <a:avLst/>
          </a:prstGeom>
          <a:solidFill>
            <a:srgbClr val="0F6E56"/>
          </a:solidFill>
        </p:spPr>
      </p:sp>
      <p:sp>
        <p:nvSpPr>
          <p:cNvPr id="14" name="Text 12"/>
          <p:cNvSpPr/>
          <p:nvPr/>
        </p:nvSpPr>
        <p:spPr>
          <a:xfrm>
            <a:off x="457200" y="3566160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3547872"/>
            <a:ext cx="7589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Factory patterns delegate creation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840480"/>
            <a:ext cx="7589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 talks to an interface only. Swap the factory → swap the product. Zero client changes.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EEEDFE"/>
          </a:solidFill>
        </p:spPr>
      </p:sp>
      <p:sp>
        <p:nvSpPr>
          <p:cNvPr id="18" name="Text 16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C34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patterns solve this. Their only difference: how many products they manage.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34AB7"/>
          </a:solidFill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EEED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 1 · Factory Method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5303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 factory, one product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68580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25880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EEEDFE"/>
          </a:solidFill>
        </p:spPr>
      </p:sp>
      <p:sp>
        <p:nvSpPr>
          <p:cNvPr id="7" name="Text 4"/>
          <p:cNvSpPr/>
          <p:nvPr/>
        </p:nvSpPr>
        <p:spPr>
          <a:xfrm>
            <a:off x="457200" y="1325880"/>
            <a:ext cx="5120640" cy="548640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C34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showroom analogy: walk in and say "give me a Hyundai car." One product returned.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01168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1E1E2E"/>
          </a:solidFill>
        </p:spPr>
      </p:sp>
      <p:sp>
        <p:nvSpPr>
          <p:cNvPr id="9" name="Text 6"/>
          <p:cNvSpPr/>
          <p:nvPr/>
        </p:nvSpPr>
        <p:spPr>
          <a:xfrm>
            <a:off x="640080" y="2103120"/>
            <a:ext cx="475488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FactoryMethod package
</a:t>
            </a:r>
            <a:r>
              <a:rPr lang="en-US" sz="1100" dirty="0">
                <a:solidFill>
                  <a:srgbClr val="569CD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Factory </a:t>
            </a:r>
            <a:r>
              <a:rPr lang="en-US" sz="11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 = </a:t>
            </a:r>
            <a:r>
              <a:rPr lang="en-US" sz="1100" dirty="0">
                <a:solidFill>
                  <a:srgbClr val="C586C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new </a:t>
            </a:r>
            <a:r>
              <a:rPr lang="en-US" sz="1100" dirty="0">
                <a:solidFill>
                  <a:srgbClr val="4EC9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HyundaiFactory</a:t>
            </a:r>
            <a:r>
              <a:rPr lang="en-US" sz="11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();
</a:t>
            </a:r>
            <a:r>
              <a:rPr lang="en-US" sz="1100" dirty="0">
                <a:solidFill>
                  <a:srgbClr val="569CD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Car </a:t>
            </a:r>
            <a:r>
              <a:rPr lang="en-US" sz="11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car = f.</a:t>
            </a:r>
            <a:r>
              <a:rPr lang="en-US" sz="1100" dirty="0">
                <a:solidFill>
                  <a:srgbClr val="DCDCA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createCar</a:t>
            </a:r>
            <a:r>
              <a:rPr lang="en-US" sz="11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();    </a:t>
            </a:r>
            <a:r>
              <a:rPr lang="en-US" sz="1100" dirty="0">
                <a:solidFill>
                  <a:srgbClr val="6A99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one product
</a:t>
            </a:r>
            <a:r>
              <a:rPr lang="en-US" sz="1100" dirty="0">
                <a:solidFill>
                  <a:srgbClr val="6A99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Swap to Maruti — zero client changes
</a:t>
            </a:r>
            <a:r>
              <a:rPr lang="en-US" sz="1100" dirty="0">
                <a:solidFill>
                  <a:srgbClr val="569CD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Factory </a:t>
            </a:r>
            <a:r>
              <a:rPr lang="en-US" sz="11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 = </a:t>
            </a:r>
            <a:r>
              <a:rPr lang="en-US" sz="1100" dirty="0">
                <a:solidFill>
                  <a:srgbClr val="C586C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new </a:t>
            </a:r>
            <a:r>
              <a:rPr lang="en-US" sz="1100" dirty="0">
                <a:solidFill>
                  <a:srgbClr val="4EC9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MarutiFactory</a:t>
            </a:r>
            <a:r>
              <a:rPr lang="en-US" sz="11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();
</a:t>
            </a:r>
            <a:r>
              <a:rPr lang="en-US" sz="1100" dirty="0">
                <a:solidFill>
                  <a:srgbClr val="569CD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Car </a:t>
            </a:r>
            <a:r>
              <a:rPr lang="en-US" sz="11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car = f.</a:t>
            </a:r>
            <a:r>
              <a:rPr lang="en-US" sz="1100" dirty="0">
                <a:solidFill>
                  <a:srgbClr val="DCDCA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createCar</a:t>
            </a:r>
            <a:r>
              <a:rPr lang="en-US" sz="11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();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46520" y="132588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method on the interface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46520" y="160020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createCar() — that's it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24028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46520" y="219456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factory = one variant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446520" y="246888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HyundaiFactory → HyundaiCar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3108960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46520" y="30632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 codes against Car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446520" y="333756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Never touches HyundaiCar directly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6E56"/>
          </a:solidFill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E1F5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 2 · Abstract Factory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 factory, a whole ecosystem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68580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25880"/>
            <a:ext cx="5120640" cy="594360"/>
          </a:xfrm>
          <a:prstGeom prst="roundRect">
            <a:avLst>
              <a:gd name="adj" fmla="val 12308"/>
            </a:avLst>
          </a:prstGeom>
          <a:solidFill>
            <a:srgbClr val="E1F5EE"/>
          </a:solidFill>
        </p:spPr>
      </p:sp>
      <p:sp>
        <p:nvSpPr>
          <p:cNvPr id="7" name="Text 4"/>
          <p:cNvSpPr/>
          <p:nvPr/>
        </p:nvSpPr>
        <p:spPr>
          <a:xfrm>
            <a:off x="457200" y="1325880"/>
            <a:ext cx="5120640" cy="594360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50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manufacturer analogy: building a full vehicle — Engine, Dashboard, and Tyres must all belong to the same brand family.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057400"/>
            <a:ext cx="5120640" cy="2240280"/>
          </a:xfrm>
          <a:prstGeom prst="roundRect">
            <a:avLst>
              <a:gd name="adj" fmla="val 4082"/>
            </a:avLst>
          </a:prstGeom>
          <a:solidFill>
            <a:srgbClr val="1E1E2E"/>
          </a:solidFill>
        </p:spPr>
      </p:sp>
      <p:sp>
        <p:nvSpPr>
          <p:cNvPr id="9" name="Text 6"/>
          <p:cNvSpPr/>
          <p:nvPr/>
        </p:nvSpPr>
        <p:spPr>
          <a:xfrm>
            <a:off x="640080" y="2148840"/>
            <a:ext cx="4754880" cy="2057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AbstractFactory package
</a:t>
            </a:r>
            <a:r>
              <a:rPr lang="en-US" sz="1100" dirty="0">
                <a:solidFill>
                  <a:srgbClr val="569CD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CarFactory </a:t>
            </a:r>
            <a:r>
              <a:rPr lang="en-US" sz="11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 = </a:t>
            </a:r>
            <a:r>
              <a:rPr lang="en-US" sz="1100" dirty="0">
                <a:solidFill>
                  <a:srgbClr val="C586C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new </a:t>
            </a:r>
            <a:r>
              <a:rPr lang="en-US" sz="1100" dirty="0">
                <a:solidFill>
                  <a:srgbClr val="4EC9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HyundaiFactory</a:t>
            </a:r>
            <a:r>
              <a:rPr lang="en-US" sz="11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();
</a:t>
            </a:r>
            <a:r>
              <a:rPr lang="en-US" sz="1100" dirty="0">
                <a:solidFill>
                  <a:srgbClr val="569CD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Engine </a:t>
            </a:r>
            <a:r>
              <a:rPr lang="en-US" sz="11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 = f.</a:t>
            </a:r>
            <a:r>
              <a:rPr lang="en-US" sz="1100" dirty="0">
                <a:solidFill>
                  <a:srgbClr val="DCDCA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createEngine</a:t>
            </a:r>
            <a:r>
              <a:rPr lang="en-US" sz="11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();    </a:t>
            </a:r>
            <a:r>
              <a:rPr lang="en-US" sz="1100" dirty="0">
                <a:solidFill>
                  <a:srgbClr val="6A99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HyundaiEngine
</a:t>
            </a:r>
            <a:r>
              <a:rPr lang="en-US" sz="1100" dirty="0">
                <a:solidFill>
                  <a:srgbClr val="569CD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DashBoard </a:t>
            </a:r>
            <a:r>
              <a:rPr lang="en-US" sz="11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 = f.</a:t>
            </a:r>
            <a:r>
              <a:rPr lang="en-US" sz="1100" dirty="0">
                <a:solidFill>
                  <a:srgbClr val="DCDCA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createDashBoard</a:t>
            </a:r>
            <a:r>
              <a:rPr lang="en-US" sz="11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(); </a:t>
            </a:r>
            <a:r>
              <a:rPr lang="en-US" sz="1100" dirty="0">
                <a:solidFill>
                  <a:srgbClr val="6A99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HyundaiDash
</a:t>
            </a:r>
            <a:r>
              <a:rPr lang="en-US" sz="1100" dirty="0">
                <a:solidFill>
                  <a:srgbClr val="569CD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Tyres </a:t>
            </a:r>
            <a:r>
              <a:rPr lang="en-US" sz="11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 = f.</a:t>
            </a:r>
            <a:r>
              <a:rPr lang="en-US" sz="1100" dirty="0">
                <a:solidFill>
                  <a:srgbClr val="DCDCA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createTyres</a:t>
            </a:r>
            <a:r>
              <a:rPr lang="en-US" sz="11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();    </a:t>
            </a:r>
            <a:r>
              <a:rPr lang="en-US" sz="1100" dirty="0">
                <a:solidFill>
                  <a:srgbClr val="6A99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HyundaiTyres
</a:t>
            </a:r>
            <a:r>
              <a:rPr lang="en-US" sz="1100" dirty="0">
                <a:solidFill>
                  <a:srgbClr val="6A99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guaranteed: all from same family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46520" y="132588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methods on the interface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46520" y="160020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createEngine, createDashBoard, createTyres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24028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46520" y="219456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Never mix brands accidentally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446520" y="246888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Can't get Hyundai tyres with a Maruti engine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3108960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46520" y="30632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Swap factory = whole ecosystem swaps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446520" y="333756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Atomically and safely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1E2E"/>
          </a:solidFill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8887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distinction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Side by side — what actually changes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2468880"/>
          </a:xfrm>
          <a:prstGeom prst="roundRect">
            <a:avLst>
              <a:gd name="adj" fmla="val 4444"/>
            </a:avLst>
          </a:prstGeom>
          <a:solidFill>
            <a:srgbClr val="EEEDFE"/>
          </a:solidFill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50876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C348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Factory Method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1993392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C34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Creates 1 product type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2377440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C34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Interface has 1 method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2761488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C34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when: variants of one thing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3145536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77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 Car → HyundaiCar / MarutiCar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417320"/>
            <a:ext cx="3931920" cy="2468880"/>
          </a:xfrm>
          <a:prstGeom prst="roundRect">
            <a:avLst>
              <a:gd name="adj" fmla="val 4444"/>
            </a:avLst>
          </a:prstGeom>
          <a:solidFill>
            <a:srgbClr val="E1F5EE"/>
          </a:solidFill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087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50876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504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Abstract Factory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937760" y="1993392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50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Creates a product family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937760" y="2377440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50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Interface has N methods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937760" y="2761488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50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when: related objects must match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937760" y="3145536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D9E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 Engine + DashBoard + Tyres together</a:t>
            </a:r>
            <a:endParaRPr lang="en-US" sz="11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423160"/>
            <a:ext cx="640080" cy="64008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57200" y="411480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EEEDFE"/>
          </a:solidFill>
        </p:spPr>
      </p:sp>
      <p:sp>
        <p:nvSpPr>
          <p:cNvPr id="21" name="Text 16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C34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 yourself: "Am I creating one thing, or multiple things that must belong together?" That question picks the pattern.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F5E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36576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2423160"/>
            <a:ext cx="384048" cy="384048"/>
          </a:xfrm>
          <a:prstGeom prst="ellipse">
            <a:avLst/>
          </a:prstGeom>
          <a:solidFill>
            <a:srgbClr val="534AB7"/>
          </a:solidFill>
        </p:spPr>
      </p:sp>
      <p:sp>
        <p:nvSpPr>
          <p:cNvPr id="6" name="Text 3"/>
          <p:cNvSpPr/>
          <p:nvPr/>
        </p:nvSpPr>
        <p:spPr>
          <a:xfrm>
            <a:off x="640080" y="242316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88720" y="2423160"/>
            <a:ext cx="7498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EED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Factory Method — delegate creation of one product. Swap factory to swap variant.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384048" cy="384048"/>
          </a:xfrm>
          <a:prstGeom prst="ellipse">
            <a:avLst/>
          </a:prstGeom>
          <a:solidFill>
            <a:srgbClr val="0F6E56"/>
          </a:solidFill>
        </p:spPr>
      </p:sp>
      <p:sp>
        <p:nvSpPr>
          <p:cNvPr id="9" name="Text 6"/>
          <p:cNvSpPr/>
          <p:nvPr/>
        </p:nvSpPr>
        <p:spPr>
          <a:xfrm>
            <a:off x="640080" y="310896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88720" y="3108960"/>
            <a:ext cx="7498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1F5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Abstract Factory — delegate creation of a product family. Guarantees consistency across related objects.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3794760"/>
            <a:ext cx="384048" cy="384048"/>
          </a:xfrm>
          <a:prstGeom prst="ellipse">
            <a:avLst/>
          </a:prstGeom>
          <a:solidFill>
            <a:srgbClr val="854F0B"/>
          </a:solidFill>
        </p:spPr>
      </p:sp>
      <p:sp>
        <p:nvSpPr>
          <p:cNvPr id="12" name="Text 9"/>
          <p:cNvSpPr/>
          <p:nvPr/>
        </p:nvSpPr>
        <p:spPr>
          <a:xfrm>
            <a:off x="640080" y="379476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88720" y="3794760"/>
            <a:ext cx="7498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AC7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follow Open/Closed — add a new brand by adding a new factory class, never touching existing code.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534AB7"/>
          </a:solidFill>
        </p:spPr>
      </p:sp>
      <p:sp>
        <p:nvSpPr>
          <p:cNvPr id="15" name="Text 12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ECB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#Java  #DesignPatterns  #FactoryMethod  #AbstractFactory  #OOP  #BackendDevelopment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2599</Words>
  <Application>WPS Presentation</Application>
  <PresentationFormat>On-screen Show (16:9)</PresentationFormat>
  <Paragraphs>126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Factory Method vs Abstract Factory</dc:title>
  <dc:creator>PptxGenJS</dc:creator>
  <dc:subject>PptxGenJS Presentation</dc:subject>
  <cp:lastModifiedBy>Yashit Jain</cp:lastModifiedBy>
  <cp:revision>2</cp:revision>
  <dcterms:created xsi:type="dcterms:W3CDTF">2026-06-12T06:56:00Z</dcterms:created>
  <dcterms:modified xsi:type="dcterms:W3CDTF">2026-06-12T07:01:24Z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A779E16F03894F70A789F021CE0DFED7_13</vt:lpwstr>
  </property>
  <property fmtid="{D5CDD505-2E9C-101B-9397-08002B2CF9AE}" pid="3" name="KSOProductBuildVer">
    <vt:lpwstr>1033-12.1.0.26880</vt:lpwstr>
  </property>
</Properties>
</file>